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6"/>
  </p:notesMasterIdLst>
  <p:sldIdLst>
    <p:sldId id="274" r:id="rId5"/>
    <p:sldId id="256" r:id="rId6"/>
    <p:sldId id="257" r:id="rId7"/>
    <p:sldId id="269" r:id="rId8"/>
    <p:sldId id="268" r:id="rId9"/>
    <p:sldId id="273" r:id="rId10"/>
    <p:sldId id="272" r:id="rId11"/>
    <p:sldId id="271" r:id="rId12"/>
    <p:sldId id="276" r:id="rId22"/>
    <p:sldId id="277" r:id="rId23"/>
    <p:sldId id="275" r:id="rId21"/>
    <p:sldId id="270" r:id="rId13"/>
    <p:sldId id="265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1.xml"/><Relationship Id="rId22" Type="http://schemas.openxmlformats.org/officeDocument/2006/relationships/slide" Target="slides/slide9.xml"/><Relationship Id="rId23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A50E9A-5B29-3F48-C37D-89C17238E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275"/>
            <a:ext cx="121920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58555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4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11BAA27-C0F4-A466-A09B-15D5201C28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1" name="Rectangle 1"/>
          <p:cNvSpPr/>
          <p:nvPr/>
        </p:nvSpPr>
        <p:spPr>
          <a:xfrm>
            <a:off x="0" y="380240"/>
            <a:ext cx="12192000" cy="6966857"/>
          </a:xfrm>
          <a:prstGeom prst="rect">
            <a:avLst/>
          </a:prstGeom>
          <a:solidFill>
            <a:srgbClr val="002F5E">
              <a:alpha val="74902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atin typeface="+mj-lt"/>
            </a:endParaRPr>
          </a:p>
        </p:txBody>
      </p:sp>
      <p:sp>
        <p:nvSpPr>
          <p:cNvPr id="200" name="TextBox 5"/>
          <p:cNvSpPr txBox="1">
            <a:spLocks noGrp="1"/>
          </p:cNvSpPr>
          <p:nvPr>
            <p:ph type="sldNum" sz="quarter" idx="2"/>
          </p:nvPr>
        </p:nvSpPr>
        <p:spPr>
          <a:xfrm>
            <a:off x="11396678" y="454968"/>
            <a:ext cx="162863" cy="24622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202" name="TextBox 2"/>
          <p:cNvSpPr txBox="1"/>
          <p:nvPr/>
        </p:nvSpPr>
        <p:spPr>
          <a:xfrm>
            <a:off x="567271" y="2277410"/>
            <a:ext cx="11390486" cy="1862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7300" b="1">
                <a:solidFill>
                  <a:srgbClr val="188CFF">
                    <a:alpha val="15000"/>
                  </a:srgbClr>
                </a:solidFill>
                <a:effectLst>
                  <a:outerShdw blurRad="127000" rotWithShape="0">
                    <a:srgbClr val="000000">
                      <a:alpha val="10000"/>
                    </a:srgbClr>
                  </a:outerShdw>
                </a:effectLst>
                <a:latin typeface="Manrope ExtraBold"/>
                <a:ea typeface="Manrope ExtraBold"/>
                <a:cs typeface="Manrope ExtraBold"/>
                <a:sym typeface="Manrope ExtraBold"/>
              </a:defRPr>
            </a:lvl1pPr>
          </a:lstStyle>
          <a:p>
            <a:r>
              <a:rPr lang="en-IN" sz="11500" dirty="0">
                <a:latin typeface="+mj-lt"/>
              </a:rPr>
              <a:t>Presidency</a:t>
            </a:r>
            <a:endParaRPr sz="13800" dirty="0">
              <a:latin typeface="+mj-lt"/>
            </a:endParaRPr>
          </a:p>
        </p:txBody>
      </p:sp>
      <p:sp>
        <p:nvSpPr>
          <p:cNvPr id="203" name="TextBox 3"/>
          <p:cNvSpPr txBox="1"/>
          <p:nvPr/>
        </p:nvSpPr>
        <p:spPr>
          <a:xfrm>
            <a:off x="1573968" y="3788227"/>
            <a:ext cx="8724276" cy="496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lnSpc>
                <a:spcPct val="150000"/>
              </a:lnSpc>
              <a:defRPr sz="1600" spc="300">
                <a:solidFill>
                  <a:srgbClr val="FFFFFF"/>
                </a:solidFill>
              </a:defRPr>
            </a:lvl1pPr>
          </a:lstStyle>
          <a:p>
            <a:r>
              <a:rPr lang="en-IN" sz="2000" dirty="0">
                <a:latin typeface="+mj-lt"/>
              </a:rPr>
              <a:t>School of Artificial Intelligence and Advanced Computing</a:t>
            </a:r>
            <a:endParaRPr sz="2000" dirty="0">
              <a:latin typeface="+mj-lt"/>
            </a:endParaRPr>
          </a:p>
        </p:txBody>
      </p:sp>
      <p:sp>
        <p:nvSpPr>
          <p:cNvPr id="205" name="Rectangle 11"/>
          <p:cNvSpPr/>
          <p:nvPr/>
        </p:nvSpPr>
        <p:spPr>
          <a:xfrm>
            <a:off x="609600" y="380240"/>
            <a:ext cx="45719" cy="305561"/>
          </a:xfrm>
          <a:prstGeom prst="rect">
            <a:avLst/>
          </a:prstGeom>
          <a:solidFill>
            <a:srgbClr val="F39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BA17B-3BC2-6BF3-E9AA-D4BFBC2AD5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83" y="380240"/>
            <a:ext cx="1378341" cy="2987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9FE14F-095F-73F1-B975-3CCBF67C0C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40771"/>
            <a:ext cx="12192000" cy="469900"/>
          </a:xfrm>
          <a:prstGeom prst="rect">
            <a:avLst/>
          </a:prstGeom>
        </p:spPr>
      </p:pic>
      <p:sp>
        <p:nvSpPr>
          <p:cNvPr id="13" name="TextBox 5"/>
          <p:cNvSpPr txBox="1"/>
          <p:nvPr/>
        </p:nvSpPr>
        <p:spPr>
          <a:xfrm>
            <a:off x="2114624" y="2392826"/>
            <a:ext cx="8295781" cy="1631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0000" b="1">
                <a:solidFill>
                  <a:srgbClr val="FFFFFF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</a:lstStyle>
          <a:p>
            <a:r>
              <a:rPr lang="en-IN" dirty="0">
                <a:latin typeface="+mj-lt"/>
              </a:rPr>
              <a:t>Presidency</a:t>
            </a:r>
            <a:endParaRPr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6604809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AI-Enabled Groundwater Level Prediction and Well Risk Assessment Using Climate Time-Series Data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9" y="2100770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Batch Number: [Enter Batch Number]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886409593"/>
              </p:ext>
            </p:extLst>
          </p:nvPr>
        </p:nvGraphicFramePr>
        <p:xfrm>
          <a:off x="553347" y="2721840"/>
          <a:ext cx="5418675" cy="1224972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t>20231COM0043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Anubhab Parashar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20231COM0088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Aman Kundu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20231COM0082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Avdhesh Ghansela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Muthuraj V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986771" y="334089"/>
            <a:ext cx="542508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CSS7102- Mini  Project Review-1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[Enter Program Name]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[Enter HoD Name]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Mr. Muthuraju V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</a:t>
            </a:r>
            <a:r>
              <a:rPr lang="en-US" sz="20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K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 algn="l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sz="1800"/>
              <a:t>Problem Statement</a:t>
            </a:r>
          </a:p>
          <a:p>
            <a:pPr>
              <a:spcAft>
                <a:spcPts val="800"/>
              </a:spcAft>
            </a:pPr>
            <a:r>
              <a:rPr sz="1800"/>
              <a:t>Github Link</a:t>
            </a:r>
          </a:p>
          <a:p>
            <a:pPr>
              <a:spcAft>
                <a:spcPts val="800"/>
              </a:spcAft>
            </a:pPr>
            <a:r>
              <a:rPr sz="1800"/>
              <a:t>Analysis of Problem Statement</a:t>
            </a:r>
          </a:p>
          <a:p>
            <a:pPr>
              <a:spcAft>
                <a:spcPts val="800"/>
              </a:spcAft>
            </a:pPr>
            <a:r>
              <a:rPr sz="1800"/>
              <a:t>Architecture Design</a:t>
            </a:r>
          </a:p>
          <a:p>
            <a:pPr>
              <a:spcAft>
                <a:spcPts val="800"/>
              </a:spcAft>
            </a:pPr>
            <a:r>
              <a:rPr sz="1800"/>
              <a:t>Literature Review</a:t>
            </a:r>
          </a:p>
          <a:p>
            <a:pPr>
              <a:spcAft>
                <a:spcPts val="800"/>
              </a:spcAft>
            </a:pPr>
            <a:r>
              <a:rPr sz="1800"/>
              <a:t>Expected Output</a:t>
            </a:r>
          </a:p>
          <a:p>
            <a:pPr>
              <a:spcAft>
                <a:spcPts val="800"/>
              </a:spcAft>
            </a:pPr>
            <a:r>
              <a:rPr sz="1800"/>
              <a:t>Timeline of the Project</a:t>
            </a:r>
          </a:p>
          <a:p>
            <a:pPr>
              <a:spcAft>
                <a:spcPts val="800"/>
              </a:spcAft>
            </a:pPr>
            <a:r>
              <a:rPr sz="1800"/>
              <a:t>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b="1" sz="160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r>
              <a:rPr sz="1600"/>
              <a:t/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l">
              <a:spcBef>
                <a:spcPts val="0"/>
              </a:spcBef>
              <a:spcAft>
                <a:spcPts val="800"/>
              </a:spcAft>
              <a:buNone/>
            </a:pPr>
            <a:r>
              <a:rPr b="1" sz="1600"/>
              <a:t>Problem Statement Number: </a:t>
            </a:r>
            <a:r>
              <a:rPr sz="1600"/>
              <a:t>PRJ-314</a:t>
            </a:r>
          </a:p>
          <a:p>
            <a:pPr algn="l">
              <a:spcAft>
                <a:spcPts val="800"/>
              </a:spcAft>
            </a:pPr>
            <a:r>
              <a:rPr b="1" sz="1600"/>
              <a:t>Organization: </a:t>
            </a:r>
            <a:r>
              <a:rPr sz="1600"/>
              <a:t>Presidency University (SDG 9 - Industry, Innovation and Infrastructure)</a:t>
            </a:r>
          </a:p>
          <a:p>
            <a:pPr algn="l">
              <a:spcAft>
                <a:spcPts val="800"/>
              </a:spcAft>
            </a:pPr>
            <a:r>
              <a:rPr b="1" sz="1600"/>
              <a:t>Category: </a:t>
            </a:r>
            <a:r>
              <a:rPr sz="1600"/>
              <a:t>Software</a:t>
            </a:r>
          </a:p>
          <a:p>
            <a:pPr algn="l">
              <a:spcAft>
                <a:spcPts val="800"/>
              </a:spcAft>
            </a:pPr>
            <a:r>
              <a:rPr b="1" sz="1600"/>
              <a:t>Problem Description: </a:t>
            </a:r>
            <a:r>
              <a:rPr sz="1600"/>
              <a:t>Design and develop a solution for AI-enabled water well predictor using modern technologies to improve performance, automation, security, scalability, and real-world usability.</a:t>
            </a:r>
          </a:p>
          <a:p>
            <a:pPr algn="l">
              <a:spcAft>
                <a:spcPts val="800"/>
              </a:spcAft>
            </a:pPr>
            <a:r>
              <a:rPr b="1" sz="1600"/>
              <a:t>Difficulty Level: </a:t>
            </a:r>
            <a:r>
              <a:rPr sz="1600"/>
              <a:t>Medium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sz="1600" b="1">
                <a:solidFill>
                  <a:srgbClr val="B84A4A"/>
                </a:solidFill>
              </a:rPr>
              <a:t>[Insert public GitHub repository link here]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l" rtl="0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ct val="100000"/>
              <a:buNone/>
            </a:pPr>
            <a:r>
              <a:rPr b="1" sz="1500"/>
              <a:t>Programming Language: </a:t>
            </a:r>
            <a:r>
              <a:rPr sz="1500"/>
              <a:t>Python 3.x</a:t>
            </a:r>
          </a:p>
          <a:p>
            <a:pPr algn="l">
              <a:spcAft>
                <a:spcPts val="800"/>
              </a:spcAft>
            </a:pPr>
            <a:r>
              <a:rPr b="1" sz="1500"/>
              <a:t>Data Handling: </a:t>
            </a:r>
            <a:r>
              <a:rPr sz="1500"/>
              <a:t>Pandas, NumPy</a:t>
            </a:r>
          </a:p>
          <a:p>
            <a:pPr algn="l">
              <a:spcAft>
                <a:spcPts val="800"/>
              </a:spcAft>
            </a:pPr>
            <a:r>
              <a:rPr b="1" sz="1500"/>
              <a:t>Machine Learning Models: </a:t>
            </a:r>
            <a:r>
              <a:rPr sz="1500"/>
              <a:t>Random Forest Regressor, XGBoost (scikit-learn, XGBoost library)</a:t>
            </a:r>
          </a:p>
          <a:p>
            <a:pPr algn="l">
              <a:spcAft>
                <a:spcPts val="800"/>
              </a:spcAft>
            </a:pPr>
            <a:r>
              <a:rPr b="1" sz="1500"/>
              <a:t>Model Evaluation: </a:t>
            </a:r>
            <a:r>
              <a:rPr sz="1500"/>
              <a:t>scikit-learn (R², RMSE, MAE)</a:t>
            </a:r>
          </a:p>
          <a:p>
            <a:pPr algn="l">
              <a:spcAft>
                <a:spcPts val="800"/>
              </a:spcAft>
            </a:pPr>
            <a:r>
              <a:rPr b="1" sz="1500"/>
              <a:t>Web Interface / Deployment: </a:t>
            </a:r>
            <a:r>
              <a:rPr sz="1500"/>
              <a:t>Streamlit</a:t>
            </a:r>
          </a:p>
          <a:p>
            <a:pPr algn="l">
              <a:spcAft>
                <a:spcPts val="800"/>
              </a:spcAft>
            </a:pPr>
            <a:r>
              <a:rPr b="1" sz="1500"/>
              <a:t>Data Visualization: </a:t>
            </a:r>
            <a:r>
              <a:rPr sz="1500"/>
              <a:t>Matplotlib, Seaborn</a:t>
            </a:r>
          </a:p>
          <a:p>
            <a:pPr algn="l">
              <a:spcAft>
                <a:spcPts val="800"/>
              </a:spcAft>
            </a:pPr>
            <a:r>
              <a:rPr b="1" sz="1500"/>
              <a:t>Dataset Source: </a:t>
            </a:r>
            <a:r>
              <a:rPr sz="1500"/>
              <a:t>Kaggle - India Groundwater Climate Time-Series (1994-2025)</a:t>
            </a:r>
          </a:p>
          <a:p>
            <a:pPr algn="l">
              <a:spcAft>
                <a:spcPts val="800"/>
              </a:spcAft>
            </a:pPr>
            <a:r>
              <a:rPr b="1" sz="1500"/>
              <a:t>Version Control: </a:t>
            </a:r>
            <a:r>
              <a:rPr sz="1500"/>
              <a:t>GitHub</a:t>
            </a:r>
          </a:p>
          <a:p>
            <a:pPr algn="l">
              <a:spcAft>
                <a:spcPts val="800"/>
              </a:spcAft>
            </a:pPr>
            <a:r>
              <a:rPr b="1" sz="1500"/>
              <a:t>Development Environment: </a:t>
            </a:r>
            <a:r>
              <a:rPr sz="1500"/>
              <a:t>Jupyter Notebook / Google Colab / VS Code</a:t>
            </a: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l" rtl="0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ct val="100000"/>
              <a:buNone/>
            </a:pPr>
            <a:r>
              <a:rPr b="1" sz="1400"/>
              <a:t>Operating System: </a:t>
            </a:r>
            <a:r>
              <a:rPr sz="1400"/>
              <a:t>Windows / macOS / Linux (platform independent)</a:t>
            </a:r>
          </a:p>
          <a:p>
            <a:pPr algn="l">
              <a:spcAft>
                <a:spcPts val="800"/>
              </a:spcAft>
            </a:pPr>
            <a:r>
              <a:rPr b="1" sz="1400"/>
              <a:t>Programming Language: </a:t>
            </a:r>
            <a:r>
              <a:rPr sz="1400"/>
              <a:t>Python 3.8+</a:t>
            </a:r>
          </a:p>
          <a:p>
            <a:pPr algn="l">
              <a:spcAft>
                <a:spcPts val="800"/>
              </a:spcAft>
            </a:pPr>
            <a:r>
              <a:rPr b="1" sz="1400"/>
              <a:t>IDE: </a:t>
            </a:r>
            <a:r>
              <a:rPr sz="1400"/>
              <a:t>Jupyter Notebook, Google Colab, or VS Code</a:t>
            </a:r>
          </a:p>
          <a:p>
            <a:pPr algn="l">
              <a:spcAft>
                <a:spcPts val="800"/>
              </a:spcAft>
            </a:pPr>
            <a:r>
              <a:rPr b="1" sz="1400"/>
              <a:t>Libraries: </a:t>
            </a:r>
            <a:r>
              <a:rPr sz="1400"/>
              <a:t>Pandas, NumPy, scikit-learn, XGBoost, Matplotlib, Seaborn, Streamlit</a:t>
            </a:r>
          </a:p>
          <a:p>
            <a:pPr algn="l">
              <a:spcAft>
                <a:spcPts val="800"/>
              </a:spcAft>
            </a:pPr>
            <a:r>
              <a:rPr b="1" sz="1400"/>
              <a:t>Dataset Access: </a:t>
            </a:r>
            <a:r>
              <a:rPr sz="1400"/>
              <a:t>Kaggle account</a:t>
            </a:r>
          </a:p>
          <a:p>
            <a:pPr algn="l">
              <a:spcAft>
                <a:spcPts val="800"/>
              </a:spcAft>
            </a:pPr>
            <a:r>
              <a:rPr b="1" sz="1400"/>
              <a:t>Processor: </a:t>
            </a:r>
            <a:r>
              <a:rPr sz="1400"/>
              <a:t>Intel i3 or above</a:t>
            </a:r>
          </a:p>
          <a:p>
            <a:pPr algn="l">
              <a:spcAft>
                <a:spcPts val="800"/>
              </a:spcAft>
            </a:pPr>
            <a:r>
              <a:rPr b="1" sz="1400"/>
              <a:t>RAM: </a:t>
            </a:r>
            <a:r>
              <a:rPr sz="1400"/>
              <a:t>Minimum 4 GB (8 GB recommended)</a:t>
            </a:r>
          </a:p>
          <a:p>
            <a:pPr algn="l">
              <a:spcAft>
                <a:spcPts val="800"/>
              </a:spcAft>
            </a:pPr>
            <a:r>
              <a:rPr b="1" sz="1400"/>
              <a:t>Storage: </a:t>
            </a:r>
            <a:r>
              <a:rPr sz="1400"/>
              <a:t>At least 2 GB free space</a:t>
            </a:r>
          </a:p>
          <a:p>
            <a:pPr algn="l">
              <a:spcAft>
                <a:spcPts val="800"/>
              </a:spcAft>
            </a:pPr>
            <a:r>
              <a:rPr b="1" sz="1400"/>
              <a:t>GPU: </a:t>
            </a:r>
            <a:r>
              <a:rPr sz="1400"/>
              <a:t>Not required - tree-based models run efficiently on CPU</a:t>
            </a:r>
          </a:p>
          <a:p>
            <a:pPr algn="l">
              <a:spcAft>
                <a:spcPts val="800"/>
              </a:spcAft>
            </a:pPr>
            <a:r>
              <a:rPr b="1" sz="1400"/>
              <a:t>Special Hardware / IoT: </a:t>
            </a:r>
            <a:r>
              <a:rPr sz="1400"/>
              <a:t>None required - fully sensor-free, software-only solution</a:t>
            </a: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Architecture Design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6" name="Picture 115" descr="architecture_diagram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11064240" cy="420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Review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116" name="Table 115"/>
          <p:cNvGraphicFramePr>
            <a:graphicFrameLocks noGrp="1"/>
          </p:cNvGraphicFramePr>
          <p:nvPr/>
        </p:nvGraphicFramePr>
        <p:xfrm>
          <a:off x="502920" y="1143000"/>
          <a:ext cx="111556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651760"/>
                <a:gridCol w="3291840"/>
                <a:gridCol w="4754880"/>
              </a:tblGrid>
              <a:tr h="8077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0800" marR="50800" marT="38100" marB="38100">
                    <a:solidFill>
                      <a:srgbClr val="2E5C9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Author(s) &amp; Year</a:t>
                      </a:r>
                    </a:p>
                  </a:txBody>
                  <a:tcPr marL="50800" marR="50800" marT="38100" marB="38100">
                    <a:solidFill>
                      <a:srgbClr val="2E5C9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50800" marR="50800" marT="38100" marB="38100">
                    <a:solidFill>
                      <a:srgbClr val="2E5C9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Key Finding</a:t>
                      </a:r>
                    </a:p>
                  </a:txBody>
                  <a:tcPr marL="50800" marR="50800" marT="38100" marB="38100">
                    <a:solidFill>
                      <a:srgbClr val="2E5C9A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r>
                        <a:rPr sz="1050" b="0"/>
                        <a:t>1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Rohde et al. (2021)</a:t>
                      </a:r>
                    </a:p>
                    <a:p>
                      <a:r>
                        <a:rPr sz="1050" b="0"/>
                        <a:t>Frontiers in Earth Science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Random Forest +</a:t>
                      </a:r>
                    </a:p>
                    <a:p>
                      <a:r>
                        <a:rPr sz="1050" b="0"/>
                        <a:t>satellite/climate data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44% of GDEs declining;</a:t>
                      </a:r>
                    </a:p>
                    <a:p>
                      <a:r>
                        <a:rPr sz="1050" b="0"/>
                        <a:t>ML needs less calibration</a:t>
                      </a:r>
                    </a:p>
                  </a:txBody>
                  <a:tcPr marL="50800" marR="50800" marT="38100" marB="38100"/>
                </a:tc>
              </a:tr>
              <a:tr h="807720">
                <a:tc>
                  <a:txBody>
                    <a:bodyPr wrap="square"/>
                    <a:lstStyle/>
                    <a:p>
                      <a:r>
                        <a:rPr sz="1050" b="0"/>
                        <a:t>2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Davari et al. (2025)</a:t>
                      </a:r>
                    </a:p>
                    <a:p>
                      <a:r>
                        <a:rPr sz="1050" b="0"/>
                        <a:t>Scientific Reports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XGBoost vs RF vs SVM,</a:t>
                      </a:r>
                    </a:p>
                    <a:p>
                      <a:r>
                        <a:rPr sz="1050" b="0"/>
                        <a:t>5 hydrogeological zones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XGBoost best:</a:t>
                      </a:r>
                    </a:p>
                    <a:p>
                      <a:r>
                        <a:rPr sz="1050" b="0"/>
                        <a:t>R²=0.848, RMSE=1.55m</a:t>
                      </a:r>
                    </a:p>
                  </a:txBody>
                  <a:tcPr marL="50800" marR="50800" marT="38100" marB="38100"/>
                </a:tc>
              </a:tr>
              <a:tr h="807720">
                <a:tc>
                  <a:txBody>
                    <a:bodyPr wrap="square"/>
                    <a:lstStyle/>
                    <a:p>
                      <a:r>
                        <a:rPr sz="1050" b="0"/>
                        <a:t>3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Jesse et al. (2025)</a:t>
                      </a:r>
                    </a:p>
                    <a:p>
                      <a:r>
                        <a:rPr sz="1050" b="0"/>
                        <a:t>Applied Computing &amp; Geosciences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Systematic review of</a:t>
                      </a:r>
                    </a:p>
                    <a:p>
                      <a:r>
                        <a:rPr sz="1050" b="0"/>
                        <a:t>223 papers (PRISMA)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RF/hybrid RF outperform ANN/SVM;</a:t>
                      </a:r>
                    </a:p>
                    <a:p>
                      <a:r>
                        <a:rPr sz="1050" b="0"/>
                        <a:t>ML models are “black-box”</a:t>
                      </a:r>
                    </a:p>
                  </a:txBody>
                  <a:tcPr marL="50800" marR="50800" marT="38100" marB="38100"/>
                </a:tc>
              </a:tr>
              <a:tr h="807720">
                <a:tc>
                  <a:txBody>
                    <a:bodyPr wrap="square"/>
                    <a:lstStyle/>
                    <a:p>
                      <a:r>
                        <a:rPr sz="1050" b="0"/>
                        <a:t>4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Sarkar et al. (2025)</a:t>
                      </a:r>
                    </a:p>
                    <a:p>
                      <a:r>
                        <a:rPr sz="1050" b="0"/>
                        <a:t>Hydrology Research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RF &amp; Random Tree +</a:t>
                      </a:r>
                    </a:p>
                    <a:p>
                      <a:r>
                        <a:rPr sz="1050" b="0"/>
                        <a:t>field gravity data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Random Tree: R²=0.951</a:t>
                      </a:r>
                    </a:p>
                    <a:p>
                      <a:r>
                        <a:rPr sz="1050" b="0"/>
                        <a:t>(single well, local scale)</a:t>
                      </a:r>
                    </a:p>
                  </a:txBody>
                  <a:tcPr marL="50800" marR="50800" marT="38100" marB="38100"/>
                </a:tc>
              </a:tr>
              <a:tr h="807720">
                <a:tc>
                  <a:txBody>
                    <a:bodyPr wrap="square"/>
                    <a:lstStyle/>
                    <a:p>
                      <a:r>
                        <a:rPr sz="1050" b="0"/>
                        <a:t>5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Pham et al. (2022)</a:t>
                      </a:r>
                    </a:p>
                    <a:p>
                      <a:r>
                        <a:rPr sz="1050" b="0"/>
                        <a:t>Neural Computing &amp; Applications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7 ML models compared,</a:t>
                      </a:r>
                    </a:p>
                    <a:p>
                      <a:r>
                        <a:rPr sz="1050" b="0"/>
                        <a:t>36-year GWL dataset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Random Forest &amp; Random Tree</a:t>
                      </a:r>
                    </a:p>
                    <a:p>
                      <a:r>
                        <a:rPr sz="1050" b="0"/>
                        <a:t>top performers</a:t>
                      </a:r>
                    </a:p>
                  </a:txBody>
                  <a:tcPr marL="50800" marR="50800" marT="38100" marB="381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t>Literature Review (contd.)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116" name="Table 115"/>
          <p:cNvGraphicFramePr>
            <a:graphicFrameLocks noGrp="1"/>
          </p:cNvGraphicFramePr>
          <p:nvPr/>
        </p:nvGraphicFramePr>
        <p:xfrm>
          <a:off x="502920" y="1143000"/>
          <a:ext cx="111556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651760"/>
                <a:gridCol w="3291840"/>
                <a:gridCol w="4754880"/>
              </a:tblGrid>
              <a:tr h="8077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0800" marR="50800" marT="38100" marB="38100">
                    <a:solidFill>
                      <a:srgbClr val="2E5C9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Author(s) &amp; Year</a:t>
                      </a:r>
                    </a:p>
                  </a:txBody>
                  <a:tcPr marL="50800" marR="50800" marT="38100" marB="38100">
                    <a:solidFill>
                      <a:srgbClr val="2E5C9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50800" marR="50800" marT="38100" marB="38100">
                    <a:solidFill>
                      <a:srgbClr val="2E5C9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Key Finding</a:t>
                      </a:r>
                    </a:p>
                  </a:txBody>
                  <a:tcPr marL="50800" marR="50800" marT="38100" marB="38100">
                    <a:solidFill>
                      <a:srgbClr val="2E5C9A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r>
                        <a:rPr sz="1050" b="0"/>
                        <a:t>6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Chen et al. (2023)</a:t>
                      </a:r>
                    </a:p>
                    <a:p>
                      <a:r>
                        <a:rPr sz="1050" b="0"/>
                        <a:t>Water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LSTM + missing value</a:t>
                      </a:r>
                    </a:p>
                    <a:p>
                      <a:r>
                        <a:rPr sz="1050" b="0"/>
                        <a:t>imputation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Data quality &gt; model choice;</a:t>
                      </a:r>
                    </a:p>
                    <a:p>
                      <a:r>
                        <a:rPr sz="1050" b="0"/>
                        <a:t>LSTM needs heavy compute</a:t>
                      </a:r>
                    </a:p>
                  </a:txBody>
                  <a:tcPr marL="50800" marR="50800" marT="38100" marB="38100"/>
                </a:tc>
              </a:tr>
              <a:tr h="807720">
                <a:tc>
                  <a:txBody>
                    <a:bodyPr wrap="square"/>
                    <a:lstStyle/>
                    <a:p>
                      <a:r>
                        <a:rPr sz="1050" b="0"/>
                        <a:t>7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Khan et al. (2023)</a:t>
                      </a:r>
                    </a:p>
                    <a:p>
                      <a:r>
                        <a:rPr sz="1050" b="0"/>
                        <a:t>Applied Sciences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Review: numerical vs</a:t>
                      </a:r>
                    </a:p>
                    <a:p>
                      <a:r>
                        <a:rPr sz="1050" b="0"/>
                        <a:t>ML vs DL models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ML/DL beat physics-based models;</a:t>
                      </a:r>
                    </a:p>
                    <a:p>
                      <a:r>
                        <a:rPr sz="1050" b="0"/>
                        <a:t>DL needs dense long time-series</a:t>
                      </a:r>
                    </a:p>
                  </a:txBody>
                  <a:tcPr marL="50800" marR="50800" marT="38100" marB="38100"/>
                </a:tc>
              </a:tr>
              <a:tr h="807720">
                <a:tc>
                  <a:txBody>
                    <a:bodyPr wrap="square"/>
                    <a:lstStyle/>
                    <a:p>
                      <a:r>
                        <a:rPr sz="1050" b="0"/>
                        <a:t>8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Thakur et al. (2025)</a:t>
                      </a:r>
                    </a:p>
                    <a:p>
                      <a:r>
                        <a:rPr sz="1050" b="0"/>
                        <a:t>J. of Hydroinformatics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Hybrid PCA-DWT-LSTM,</a:t>
                      </a:r>
                    </a:p>
                    <a:p>
                      <a:r>
                        <a:rPr sz="1050" b="0"/>
                        <a:t>23-yr seasonal data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Hybrid improves noisy-input</a:t>
                      </a:r>
                    </a:p>
                    <a:p>
                      <a:r>
                        <a:rPr sz="1050" b="0"/>
                        <a:t>handling over plain LSTM</a:t>
                      </a:r>
                    </a:p>
                  </a:txBody>
                  <a:tcPr marL="50800" marR="50800" marT="38100" marB="38100"/>
                </a:tc>
              </a:tr>
              <a:tr h="807720">
                <a:tc>
                  <a:txBody>
                    <a:bodyPr wrap="square"/>
                    <a:lstStyle/>
                    <a:p>
                      <a:r>
                        <a:rPr sz="1050" b="0"/>
                        <a:t>9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Ali et al. (2024)</a:t>
                      </a:r>
                    </a:p>
                    <a:p>
                      <a:r>
                        <a:rPr sz="1050" b="0"/>
                        <a:t>Applied Comp. Intelligence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Review of 91 DL articles</a:t>
                      </a:r>
                    </a:p>
                    <a:p>
                      <a:r>
                        <a:rPr sz="1050" b="0"/>
                        <a:t>(RNN/LSTM/GRU)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Most DL models never reach</a:t>
                      </a:r>
                    </a:p>
                    <a:p>
                      <a:r>
                        <a:rPr sz="1050" b="0"/>
                        <a:t>real-world deployment</a:t>
                      </a:r>
                    </a:p>
                  </a:txBody>
                  <a:tcPr marL="50800" marR="50800" marT="38100" marB="38100"/>
                </a:tc>
              </a:tr>
              <a:tr h="807720">
                <a:tc>
                  <a:txBody>
                    <a:bodyPr wrap="square"/>
                    <a:lstStyle/>
                    <a:p>
                      <a:r>
                        <a:rPr sz="1050" b="0"/>
                        <a:t>10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Feng et al. (2024)</a:t>
                      </a:r>
                    </a:p>
                    <a:p>
                      <a:r>
                        <a:rPr sz="1050" b="0"/>
                        <a:t>Frontiers in Env. Science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6 models compared (CNN,</a:t>
                      </a:r>
                    </a:p>
                    <a:p>
                      <a:r>
                        <a:rPr sz="1050" b="0"/>
                        <a:t>RNN, SVM, DT, RF, GAN)</a:t>
                      </a:r>
                    </a:p>
                  </a:txBody>
                  <a:tcPr marL="50800" marR="50800" marT="38100" marB="38100"/>
                </a:tc>
                <a:tc>
                  <a:txBody>
                    <a:bodyPr wrap="square"/>
                    <a:lstStyle/>
                    <a:p>
                      <a:r>
                        <a:rPr sz="1050" b="0"/>
                        <a:t>No single model dominates;</a:t>
                      </a:r>
                    </a:p>
                    <a:p>
                      <a:r>
                        <a:rPr sz="1050" b="0"/>
                        <a:t>benchmark multiple is best practice</a:t>
                      </a:r>
                    </a:p>
                  </a:txBody>
                  <a:tcPr marL="50800" marR="50800" marT="38100" marB="381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Expected Output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l" rtl="0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ct val="100000"/>
              <a:buNone/>
            </a:pPr>
            <a:r>
              <a:rPr sz="1700"/>
              <a:t>A predicted groundwater level (in meters) for the selected station and time period.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>
              <a:spcAft>
                <a:spcPts val="800"/>
              </a:spcAft>
            </a:pPr>
            <a:r>
              <a:rPr sz="1700"/>
              <a:t>A model confidence indicator (prediction interval / error margin) based on validation performance.</a:t>
            </a:r>
          </a:p>
          <a:p>
            <a:pPr algn="l">
              <a:spcAft>
                <a:spcPts val="800"/>
              </a:spcAft>
            </a:pPr>
            <a:r>
              <a:rPr b="1" sz="1700"/>
              <a:t>Well-Risk Classification: </a:t>
            </a:r>
            <a:r>
              <a:rPr sz="1700"/>
              <a:t>Safe / Declining / Critical, for practical well-viability decisions.</a:t>
            </a:r>
          </a:p>
          <a:p>
            <a:pPr algn="l">
              <a:spcAft>
                <a:spcPts val="800"/>
              </a:spcAft>
            </a:pPr>
            <a:r>
              <a:rPr sz="1700"/>
              <a:t>Supporting visualizations: historical groundwater trend + feature-importance breakdown.</a:t>
            </a:r>
          </a:p>
          <a:p>
            <a:pPr algn="l">
              <a:spcAft>
                <a:spcPts val="800"/>
              </a:spcAft>
            </a:pPr>
            <a:r>
              <a:rPr b="1" sz="1700"/>
              <a:t>SDG 9 Alignment: </a:t>
            </a:r>
            <a:r>
              <a:rPr sz="1700"/>
              <a:t>a scalable, low-cost, sensor-free tool for groundwater management decisions.</a:t>
            </a: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6" name="Picture 115" descr="gantt_chart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11430000" cy="567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Aft>
                <a:spcPts val="500"/>
              </a:spcAft>
            </a:pPr>
            <a:r>
              <a:t>References (APA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950"/>
              <a:t>Rohde, M. M., Biswas, T., Housman, I. W., Campbell, L. S., Klausmeyer, K. R., &amp; Howard, J. K. (2021). A machine learning approach to predict groundwater levels in California reveals ecosystems at risk. Frontiers in Earth Science, 9, 784499. https://doi.org/10.3389/feart.2021.784499</a:t>
            </a:r>
          </a:p>
          <a:p>
            <a:pPr>
              <a:spcAft>
                <a:spcPts val="500"/>
              </a:spcAft>
            </a:pPr>
            <a:r>
              <a:rPr sz="950"/>
              <a:t>Davari, S., Eslamian, S., Jamali, M., &amp; Safavi, H. R. (2025). Application of machine learning algorithms for groundwater level prediction in the Najafabad plain. Scientific Reports. https://doi.org/10.1038/s41598-025-32376-1</a:t>
            </a:r>
          </a:p>
          <a:p>
            <a:pPr>
              <a:spcAft>
                <a:spcPts val="500"/>
              </a:spcAft>
            </a:pPr>
            <a:r>
              <a:rPr sz="950"/>
              <a:t>Jesse, G. et al. (2025). A systematic review of machine learning models for groundwater level prediction. Applied Computing and Geosciences, 28, 100303. https://doi.org/10.1016/j.acags.2025.100303</a:t>
            </a:r>
          </a:p>
          <a:p>
            <a:pPr>
              <a:spcAft>
                <a:spcPts val="500"/>
              </a:spcAft>
            </a:pPr>
            <a:r>
              <a:rPr sz="950"/>
              <a:t>Sarkar, H., Mishra, R., &amp; Ojha, C. S. P. (2025). Application of machine learning techniques in the evaluation of local groundwater level using field gravity data. Hydrology Research, 56(5), 383-396. https://doi.org/10.2166/nh.2025.108</a:t>
            </a:r>
          </a:p>
          <a:p>
            <a:pPr>
              <a:spcAft>
                <a:spcPts val="500"/>
              </a:spcAft>
            </a:pPr>
            <a:r>
              <a:rPr sz="950"/>
              <a:t>Pham, Q. B. et al. (2022). Groundwater level prediction using machine learning algorithms in a drought-prone area. Neural Computing and Applications, 34, 10751-10773. https://doi.org/10.1007/s00521-022-07009-7</a:t>
            </a:r>
          </a:p>
          <a:p>
            <a:pPr>
              <a:spcAft>
                <a:spcPts val="500"/>
              </a:spcAft>
            </a:pPr>
            <a:r>
              <a:rPr sz="950"/>
              <a:t>Chen, H.-Y., Vojinovic, Z., Lo, W., &amp; Lee, J.-W. (2023). Groundwater level prediction with deep learning methods. Water, 15(17), 3118. https://doi.org/10.3390/w15173118</a:t>
            </a:r>
          </a:p>
          <a:p>
            <a:pPr>
              <a:spcAft>
                <a:spcPts val="500"/>
              </a:spcAft>
            </a:pPr>
            <a:r>
              <a:rPr sz="950"/>
              <a:t>Khan, J., Lee, E., Balobaid, A. S., &amp; Kim, K. (2023). A comprehensive review of conventional, machine learning, and deep learning models for groundwater level (GWL) forecasting. Applied Sciences, 13(4), 2743. https://doi.org/10.3390/app13042743</a:t>
            </a:r>
          </a:p>
          <a:p>
            <a:pPr>
              <a:spcAft>
                <a:spcPts val="500"/>
              </a:spcAft>
            </a:pPr>
            <a:r>
              <a:rPr sz="950"/>
              <a:t>Thakur, A., Chandel, A., &amp; Shankar, V. (2025). Prediction of groundwater levels using a long short-term memory (LSTM) technique. Journal of Hydroinformatics, 27(1), 51-68. https://doi.org/10.2166/hydro.2024.239</a:t>
            </a:r>
          </a:p>
          <a:p>
            <a:pPr>
              <a:spcAft>
                <a:spcPts val="500"/>
              </a:spcAft>
            </a:pPr>
            <a:r>
              <a:rPr sz="950"/>
              <a:t>Ali, A. S. A., Jazaei, F., Babakhani, P., Ashiq, M. M., Bakhshaee, A., &amp; Waldron, B. (2024). An overview of deep learning applications in groundwater level modeling. Applied Computational Intelligence and Soft Computing, 2024, 9480522. https://doi.org/10.1155/2024/9480522</a:t>
            </a:r>
          </a:p>
          <a:p>
            <a:pPr>
              <a:spcAft>
                <a:spcPts val="500"/>
              </a:spcAft>
            </a:pPr>
            <a:r>
              <a:rPr sz="950"/>
              <a:t>Feng, F., Ghorbani, H., &amp; Radwan, A. E. (2024). Predicting groundwater level using traditional and deep machine learning algorithms. Frontiers in Environmental Science, 12, 1291327. https://doi.org/10.3389/fenvs.2024.1291327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62f681-7444-4666-891e-c71d42de2ddf">
      <Terms xmlns="http://schemas.microsoft.com/office/infopath/2007/PartnerControls"/>
    </lcf76f155ced4ddcb4097134ff3c332f>
    <TaxCatchAll xmlns="b8676f30-e579-463a-a8aa-821338b0037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A2C149D477E4E814B4B477F0E243C" ma:contentTypeVersion="13" ma:contentTypeDescription="Create a new document." ma:contentTypeScope="" ma:versionID="89242249e9f2fc9f35c8ac40d1749aa8">
  <xsd:schema xmlns:xsd="http://www.w3.org/2001/XMLSchema" xmlns:xs="http://www.w3.org/2001/XMLSchema" xmlns:p="http://schemas.microsoft.com/office/2006/metadata/properties" xmlns:ns2="ed62f681-7444-4666-891e-c71d42de2ddf" xmlns:ns3="b8676f30-e579-463a-a8aa-821338b00374" targetNamespace="http://schemas.microsoft.com/office/2006/metadata/properties" ma:root="true" ma:fieldsID="a661edb3eb918c130b5b038713d75e6b" ns2:_="" ns3:_="">
    <xsd:import namespace="ed62f681-7444-4666-891e-c71d42de2ddf"/>
    <xsd:import namespace="b8676f30-e579-463a-a8aa-821338b003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62f681-7444-4666-891e-c71d42de2d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4626717-1439-4315-99ce-985d7ba5c1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76f30-e579-463a-a8aa-821338b0037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f08d022-328e-4f53-b2cf-c730c7a35dee}" ma:internalName="TaxCatchAll" ma:showField="CatchAllData" ma:web="b8676f30-e579-463a-a8aa-821338b003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31A4896-B9C1-4471-B691-16FF8CBFF7E9}">
  <ds:schemaRefs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b8676f30-e579-463a-a8aa-821338b00374"/>
    <ds:schemaRef ds:uri="ed62f681-7444-4666-891e-c71d42de2ddf"/>
  </ds:schemaRefs>
</ds:datastoreItem>
</file>

<file path=customXml/itemProps2.xml><?xml version="1.0" encoding="utf-8"?>
<ds:datastoreItem xmlns:ds="http://schemas.openxmlformats.org/officeDocument/2006/customXml" ds:itemID="{80799BD1-F224-430F-A4F0-5AAD34602B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62f681-7444-4666-891e-c71d42de2ddf"/>
    <ds:schemaRef ds:uri="b8676f30-e579-463a-a8aa-821338b003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D2043A-A905-44DC-A627-E0BB4B1558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190</Words>
  <Application>Microsoft Office PowerPoint</Application>
  <PresentationFormat>Widescreen</PresentationFormat>
  <Paragraphs>57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Bookman Old Style</vt:lpstr>
      <vt:lpstr>Cambria</vt:lpstr>
      <vt:lpstr>Manrope ExtraBold</vt:lpstr>
      <vt:lpstr>Verdana</vt:lpstr>
      <vt:lpstr>Wingdings</vt:lpstr>
      <vt:lpstr>Bioinformatics</vt:lpstr>
      <vt:lpstr>PowerPoint Presentation</vt:lpstr>
      <vt:lpstr>PROJECT TITLE</vt:lpstr>
      <vt:lpstr>Content</vt:lpstr>
      <vt:lpstr>Problem Statement Number: </vt:lpstr>
      <vt:lpstr>Github Link</vt:lpstr>
      <vt:lpstr>Analysis of Problem Statement</vt:lpstr>
      <vt:lpstr>Analysis of Problem Statement (contd...)</vt:lpstr>
      <vt:lpstr>Analysis of Problem Statement (contd...)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Dr.Sampath A K-Prof -SCSE</cp:lastModifiedBy>
  <cp:revision>39</cp:revision>
  <dcterms:modified xsi:type="dcterms:W3CDTF">2026-08-05T11:17:07Z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0x010100FA8A2C149D477E4E814B4B477F0E243C</vt:lpwstr>
  </property>
</Properties>
</file>